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BFF"/>
                </a:solidFill>
                <a:latin typeface="Segoe UI"/>
              </a:defRPr>
            </a:pPr>
            <a:r>
              <a:t>WEATHER &amp; RAINFALL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The Year the Sky Opened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D4FF"/>
                </a:solidFill>
                <a:latin typeface="Segoe UI"/>
              </a:defRPr>
            </a:pPr>
            <a:r>
              <a:t>2025 —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114800"/>
            <a:ext cx="2103120" cy="36576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93"/>
                </a:solidFill>
                <a:latin typeface="Segoe UI"/>
              </a:defRPr>
            </a:pPr>
            <a:r>
              <a:t>Atlas  |  AI Employee  |  Midhat's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BIG PICTURE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1828800" cy="36576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2025: A Year of Extremes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9BFF"/>
                </a:solidFill>
                <a:latin typeface="Segoe UI"/>
              </a:rPr>
              <a:t>●  </a:t>
            </a:r>
            <a:r>
              <a:rPr sz="1800">
                <a:solidFill>
                  <a:srgbClr val="B0BCD0"/>
                </a:solidFill>
                <a:latin typeface="Segoe UI"/>
              </a:rPr>
              <a:t>Rain that broke records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BFF"/>
                </a:solidFill>
                <a:latin typeface="Segoe UI"/>
              </a:rPr>
              <a:t>●  </a:t>
            </a:r>
            <a:r>
              <a:rPr sz="1800">
                <a:solidFill>
                  <a:srgbClr val="B0BCD0"/>
                </a:solidFill>
                <a:latin typeface="Segoe UI"/>
              </a:rPr>
              <a:t>Floods that broke hearts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BFF"/>
                </a:solidFill>
                <a:latin typeface="Segoe UI"/>
              </a:rPr>
              <a:t>●  </a:t>
            </a:r>
            <a:r>
              <a:rPr sz="1800">
                <a:solidFill>
                  <a:srgbClr val="B0BCD0"/>
                </a:solidFill>
                <a:latin typeface="Segoe UI"/>
              </a:rPr>
              <a:t>Storms that broke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097280"/>
            <a:ext cx="2286000" cy="128016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C4C"/>
                </a:solidFill>
                <a:latin typeface="Segoe UI"/>
              </a:defRPr>
            </a:pPr>
            <a:r>
              <a:t>7,000+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Flash Flood Warnings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097280"/>
            <a:ext cx="2286000" cy="128016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500"/>
                </a:solidFill>
                <a:latin typeface="Segoe UI"/>
              </a:defRPr>
            </a:pPr>
            <a:r>
              <a:t>4,000+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By July Alone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743200"/>
            <a:ext cx="2286000" cy="128016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C4C"/>
                </a:solidFill>
                <a:latin typeface="Segoe UI"/>
              </a:defRPr>
            </a:pPr>
            <a:r>
              <a:t>135+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Died in TX Floods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743200"/>
            <a:ext cx="2286000" cy="128016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C4C"/>
                </a:solidFill>
                <a:latin typeface="Segoe UI"/>
              </a:defRPr>
            </a:pPr>
            <a:r>
              <a:t>1,500+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Died — Cyclone Senyar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0"/>
                </a:solidFill>
                <a:latin typeface="Segoe UI"/>
              </a:defRPr>
            </a:pPr>
            <a:r>
              <a:t>"The flash flood warnings in 2025 surpassed every year since records began in 1986.</a:t>
            </a:r>
            <a:br/>
            <a:r>
              <a:t>July alone saw 1,434 warnings — the 2nd highest July total in 40 years."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WINTER 2024 –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286000" cy="36576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Atmospheric Rivers vs Deadly Drought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303520" cy="41148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FF"/>
                </a:solidFill>
                <a:latin typeface="Segoe UI"/>
              </a:defRPr>
            </a:pPr>
            <a:r>
              <a:t>NORTHERN CALIFORNIA — FLOODING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9BFF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February atmospheric rivers brought massive flooding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9BFF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Mad River, Eel River, Russian River exceeded flood stages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9BFF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Arcata, Fernbridge, Hopland, Tehama Bridge — all flooded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9BFF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8-12 rain days per month across the West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486400" cy="41148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C4C"/>
                </a:solidFill>
                <a:latin typeface="Segoe UI"/>
              </a:defRPr>
            </a:pPr>
            <a:r>
              <a:t>SOUTHERN CALIFORNIA — NO 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4C4C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LA got ZERO rain during critical fire season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C4C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Dry Santa Ana winds fueled the deadliest wildfires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C4C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31 deaths, 16,000+ structures destroyed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C4C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Doubled record for costliest U.S. wildfire 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Segoe UI"/>
              </a:defRPr>
            </a:pPr>
            <a:r>
              <a:t>Pattern: Above average (West Coast)  |  Below average (SoCal)  |  Rain Days: 8–12/month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SPRING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1645920" cy="36576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32004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Windiest on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85 mph gusts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~120 flash flood warnings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TX &amp; OK wildfires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9 rain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474720" cy="32004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C4C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The Sky Broke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4C4C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~500 flash flood warnings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4C4C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1-in-1,000 year rainfall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4C4C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KY, TN devastated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4C4C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14 rain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474720" cy="32004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BFF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Monsoon Onset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~300 flash flood warnings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Early South Asian monsoon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Heavy tropical rain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12 rain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0"/>
                </a:solidFill>
                <a:latin typeface="Segoe UI"/>
              </a:defRPr>
            </a:pPr>
            <a:r>
              <a:t>April's stalled fronts produced historic rainfall across the Lower Ohio Valley.</a:t>
            </a:r>
            <a:br/>
            <a:r>
              <a:t>Parts of Kentucky and Tennessee experienced 1-in-1,000-year rainfall — a once-in-a-millennium event.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SUMMER 2025 — FLASH FLOOD SUMMER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3200400" cy="36576"/>
          </a:xfrm>
          <a:prstGeom prst="roundRect">
            <a:avLst/>
          </a:prstGeom>
          <a:solidFill>
            <a:srgbClr val="F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FF"/>
                </a:solidFill>
                <a:latin typeface="Segoe UI"/>
              </a:defRPr>
            </a:pPr>
            <a:r>
              <a:t>FLASH FLOOD WARNING 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4114800" cy="548640"/>
          </a:xfrm>
          <a:prstGeom prst="roundRect">
            <a:avLst/>
          </a:prstGeom>
          <a:solidFill>
            <a:srgbClr val="F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  July 2025:  1,434 warnings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2011680" cy="548640"/>
          </a:xfrm>
          <a:prstGeom prst="roundRect">
            <a:avLst/>
          </a:prstGeom>
          <a:solidFill>
            <a:srgbClr val="6B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  July Avg:  ~700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303520" cy="27432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C4C"/>
                </a:solidFill>
                <a:latin typeface="Segoe UI"/>
              </a:defRPr>
            </a:pPr>
            <a:r>
              <a:t>TEXAS HILL COUNTRY — AUGUST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4C4C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Nearly 2 FEET of rain in just days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C4C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1-in-100 to 1-in-1,000-year flood event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C4C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135+ people killed (including 36 children)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C4C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One of the deadliest U.S. flood events ever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2743200" cy="128016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C4C"/>
                </a:solidFill>
                <a:latin typeface="Segoe UI"/>
              </a:defRPr>
            </a:pPr>
            <a:r>
              <a:t>4,000+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Cumulative Warnings by July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389120"/>
            <a:ext cx="2743200" cy="128016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500"/>
                </a:solidFill>
                <a:latin typeface="Segoe UI"/>
              </a:defRPr>
            </a:pPr>
            <a:r>
              <a:t>1,434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July Alone (2nd Highest Ever)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389120"/>
            <a:ext cx="2743200" cy="128016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C4C"/>
                </a:solidFill>
                <a:latin typeface="Segoe UI"/>
              </a:defRPr>
            </a:pPr>
            <a:r>
              <a:t>135+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Lives Lost in Texas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389120"/>
            <a:ext cx="2286000" cy="128016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572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C4C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Children Among the Dead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Segoe UI"/>
              </a:defRPr>
            </a:pPr>
            <a:r>
              <a:t>NWS issued almost 4,000 flash flood warnings by end of July — more than any year since records began in 1986.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FALL 2025 — HURRICANE RAIN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560320" cy="36576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38404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C4C"/>
                </a:solidFill>
                <a:latin typeface="Segoe UI"/>
              </a:defRPr>
            </a:pPr>
            <a:r>
              <a:t>HURRICANE MELISSA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93"/>
                </a:solidFill>
                <a:latin typeface="Segoe UI"/>
              </a:defRPr>
            </a:pPr>
            <a:r>
              <a:t>Jamaica — October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4C4C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Category 5 hurricane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4C4C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One of strongest Atlantic landfalls ever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4C4C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Catastrophic rainfall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4C4C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~400 flash flood warnings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474720" cy="38404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500"/>
                </a:solidFill>
                <a:latin typeface="Segoe UI"/>
              </a:defRPr>
            </a:pPr>
            <a:r>
              <a:t>CYCLONE SENYAR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93"/>
                </a:solidFill>
                <a:latin typeface="Segoe UI"/>
              </a:defRPr>
            </a:pPr>
            <a:r>
              <a:t>Thailand &amp; Indonesia —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A500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1,500+ deaths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A500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Catastrophic tropical rainfall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A500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Large positive anomalies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A500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~300 flash flood warnings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474720" cy="38404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BFF"/>
                </a:solidFill>
                <a:latin typeface="Segoe UI"/>
              </a:defRPr>
            </a:pPr>
            <a:r>
              <a:t>NORTH CAROLINA FLOODS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93"/>
                </a:solidFill>
                <a:latin typeface="Segoe UI"/>
              </a:defRPr>
            </a:pPr>
            <a:r>
              <a:t>NC — Fall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1-in-1,000 year rain recurrence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Above avg coastal rainfall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~350 warnings in September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9BFF"/>
                </a:solidFill>
                <a:latin typeface="Segoe UI"/>
              </a:rPr>
              <a:t>●  </a:t>
            </a:r>
            <a:r>
              <a:rPr sz="1400">
                <a:solidFill>
                  <a:srgbClr val="B0BCD0"/>
                </a:solidFill>
                <a:latin typeface="Segoe UI"/>
              </a:rPr>
              <a:t>7-11 rain days/month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  <a:latin typeface="Segoe UI"/>
              </a:defRPr>
            </a:pPr>
            <a:r>
              <a:t>80% of 2025 Atlantic hurricanes were Category 4-5 — the highest percentage ever recorded in any hurricane season.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WINTER 2025 –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286000" cy="36576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9260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MEGA WINTER STORM  —  Jan 24–26,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Swept across 20+ states (New Mexico to Maine)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12+ inches of snow in multiple locations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Severe icing across Southeast &amp; Appalachians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~350 flash flood warnings in January alone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29260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Segoe UI"/>
              </a:defRPr>
            </a:pPr>
            <a:r>
              <a:t>THE PARADOX: SNOW DROUGHT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A500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Rain fell instead of snow in mountains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A500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Snow drought despite wet weather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A500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Mountain snowpack running critically low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A500"/>
                </a:solidFill>
                <a:latin typeface="Segoe UI"/>
              </a:rPr>
              <a:t>●  </a:t>
            </a:r>
            <a:r>
              <a:rPr sz="1500">
                <a:solidFill>
                  <a:srgbClr val="B0BCD0"/>
                </a:solidFill>
                <a:latin typeface="Segoe UI"/>
              </a:rPr>
              <a:t>Summer water supply threatened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3891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009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009B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Above normal temps + rain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East Coast, Southeast, Gulf, TX, SW, CA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Below normal temps + snow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Upper Midwest, N. Plains, Pacific NW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Expanding drought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Central and High Plains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RAINFALL SCOREBOARD 2025 –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3200400" cy="36576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51760" cy="20116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4C4C"/>
                </a:solidFill>
                <a:latin typeface="Segoe UI"/>
              </a:defRPr>
            </a:pPr>
            <a:r>
              <a:t>7,000+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Flash Flood</a:t>
            </a:r>
            <a:br/>
            <a:r>
              <a:t>Warnings (Record)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51760" cy="20116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A500"/>
                </a:solidFill>
                <a:latin typeface="Segoe UI"/>
              </a:defRPr>
            </a:pPr>
            <a:r>
              <a:t>1,434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468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July Warnings</a:t>
            </a:r>
            <a:br/>
            <a:r>
              <a:t>Alone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651760" cy="20116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4C4C"/>
                </a:solidFill>
                <a:latin typeface="Segoe UI"/>
              </a:defRPr>
            </a:pPr>
            <a:r>
              <a:t>135+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Killed in</a:t>
            </a:r>
            <a:br/>
            <a:r>
              <a:t>Texas Floods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280160"/>
            <a:ext cx="2651760" cy="20116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4C4C"/>
                </a:solidFill>
                <a:latin typeface="Segoe UI"/>
              </a:defRPr>
            </a:pPr>
            <a:r>
              <a:t>1,500+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468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Killed by</a:t>
            </a:r>
            <a:br/>
            <a:r>
              <a:t>Cyclone Senyar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2651760" cy="20116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Segoe UI"/>
              </a:defRPr>
            </a:pPr>
            <a:r>
              <a:t>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1-in-1,000 Year</a:t>
            </a:r>
            <a:br/>
            <a:r>
              <a:t>Rain 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657600"/>
            <a:ext cx="2651760" cy="20116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9319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  <a:latin typeface="Segoe UI"/>
              </a:defRPr>
            </a:pPr>
            <a:r>
              <a:t>10+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846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Billion-Dollar</a:t>
            </a:r>
            <a:br/>
            <a:r>
              <a:t>Rain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57600"/>
            <a:ext cx="2651760" cy="20116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9319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9BFF"/>
                </a:solidFill>
                <a:latin typeface="Segoe UI"/>
              </a:defRPr>
            </a:pPr>
            <a:r>
              <a:t>20+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846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States Hit by</a:t>
            </a:r>
            <a:br/>
            <a:r>
              <a:t>Jan '26 Storm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657600"/>
            <a:ext cx="2651760" cy="201168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39319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A500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846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Hurricanes Were</a:t>
            </a:r>
            <a:br/>
            <a:r>
              <a:t>Cat 4-5 (Record)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FOUR FACES OF 2025 RAINFALL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3200400" cy="36576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697480" cy="50292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FF"/>
                </a:solidFill>
                <a:latin typeface="Segoe UI"/>
              </a:defRPr>
            </a:pPr>
            <a:r>
              <a:t>SPRING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3"/>
                </a:solidFill>
                <a:latin typeface="Segoe UI"/>
              </a:defRPr>
            </a:pPr>
            <a:r>
              <a:t>The Calm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783080" cy="27432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Gentle Showers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Atmospheric rivers</a:t>
            </a:r>
            <a:br/>
            <a:r>
              <a:t>and early storms</a:t>
            </a:r>
            <a:br/>
            <a:r>
              <a:t>set the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2148840" cy="457200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6460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9–14 rain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188720"/>
            <a:ext cx="2697480" cy="50292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C4C"/>
                </a:solidFill>
                <a:latin typeface="Segoe UI"/>
              </a:defRPr>
            </a:pPr>
            <a:r>
              <a:t>SUMMER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3"/>
                </a:solidFill>
                <a:latin typeface="Segoe UI"/>
              </a:defRPr>
            </a:pPr>
            <a:r>
              <a:t>The Fury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40" y="2286000"/>
            <a:ext cx="1783080" cy="27432"/>
          </a:xfrm>
          <a:prstGeom prst="roundRect">
            <a:avLst/>
          </a:prstGeom>
          <a:solidFill>
            <a:srgbClr val="F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4688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Record Floods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175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Flash floods rewrote</a:t>
            </a:r>
            <a:br/>
            <a:r>
              <a:t>the record books</a:t>
            </a:r>
            <a:br/>
            <a:r>
              <a:t>135+ lives lost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846320"/>
            <a:ext cx="2148840" cy="457200"/>
          </a:xfrm>
          <a:prstGeom prst="roundRect">
            <a:avLst/>
          </a:prstGeom>
          <a:solidFill>
            <a:srgbClr val="F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86460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8–12 rain 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88720"/>
            <a:ext cx="2697480" cy="50292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500"/>
                </a:solidFill>
                <a:latin typeface="Segoe UI"/>
              </a:defRPr>
            </a:pPr>
            <a:r>
              <a:t>FALL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3"/>
                </a:solidFill>
                <a:latin typeface="Segoe UI"/>
              </a:defRPr>
            </a:pPr>
            <a:r>
              <a:t>The Spiral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286000"/>
            <a:ext cx="1783080" cy="27432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4688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Hurricane 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Cat 5 hurricanes</a:t>
            </a:r>
            <a:br/>
            <a:r>
              <a:t>and cyclones brought</a:t>
            </a:r>
            <a:br/>
            <a:r>
              <a:t>catastrophic rainfall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846320"/>
            <a:ext cx="2148840" cy="457200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6460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7–11 rain days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1188720"/>
            <a:ext cx="2697480" cy="5029200"/>
          </a:xfrm>
          <a:prstGeom prst="round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WINTER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3"/>
                </a:solidFill>
                <a:latin typeface="Segoe UI"/>
              </a:defRPr>
            </a:pPr>
            <a:r>
              <a:t>The Blanket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2286000"/>
            <a:ext cx="1783080" cy="27432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4688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Mega Storm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0175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Segoe UI"/>
              </a:defRPr>
            </a:pPr>
            <a:r>
              <a:t>20+ states buried</a:t>
            </a:r>
            <a:br/>
            <a:r>
              <a:t>but rain replaced</a:t>
            </a:r>
            <a:br/>
            <a:r>
              <a:t>snow in mountains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4846320"/>
            <a:ext cx="2148840" cy="4572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86460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8–13 rain/snow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011680" cy="36576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675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9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2025–2026 Value</a:t>
                      </a:r>
                    </a:p>
                  </a:txBody>
                  <a:tcPr>
                    <a:solidFill>
                      <a:srgbClr val="009B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flash flood warnings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7,000+ (all-time record)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Deadliest flood event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Texas Hill Country — 135+ deaths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Deadliest rain cyclone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Cyclone Senyar — 1,500+ deaths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Rarest rainfall events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1-in-1,000 year (4+ locations)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July flash flood warnings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1,434 (2nd highest ever)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Winter anomaly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Rain replacing snow = snow drought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Drought zones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Central / High Plains expanding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"The rain tells a story."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Segoe UI"/>
              </a:defRPr>
            </a:pPr>
            <a:r>
              <a:t>2025 wrote it in floods.  2026 reads it in drought.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560320"/>
            <a:ext cx="2103120" cy="36576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FF"/>
                </a:solidFill>
                <a:latin typeface="Segoe UI"/>
              </a:defRPr>
            </a:pPr>
            <a: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009BFF"/>
                </a:solidFill>
                <a:latin typeface="Segoe UI"/>
              </a:rPr>
              <a:t>●  </a:t>
            </a:r>
            <a:r>
              <a:rPr sz="1300">
                <a:solidFill>
                  <a:srgbClr val="6B7B93"/>
                </a:solidFill>
                <a:latin typeface="Segoe UI"/>
              </a:rPr>
              <a:t>NOAA NCEI Monthly Climate Reports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9BFF"/>
                </a:solidFill>
                <a:latin typeface="Segoe UI"/>
              </a:rPr>
              <a:t>●  </a:t>
            </a:r>
            <a:r>
              <a:rPr sz="1300">
                <a:solidFill>
                  <a:srgbClr val="6B7B93"/>
                </a:solidFill>
                <a:latin typeface="Segoe UI"/>
              </a:rPr>
              <a:t>NASA Global Precipitation Measurement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9BFF"/>
                </a:solidFill>
                <a:latin typeface="Segoe UI"/>
              </a:rPr>
              <a:t>●  </a:t>
            </a:r>
            <a:r>
              <a:rPr sz="1300">
                <a:solidFill>
                  <a:srgbClr val="6B7B93"/>
                </a:solidFill>
                <a:latin typeface="Segoe UI"/>
              </a:rPr>
              <a:t>ESSIC Global Precipitation Summaries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9BFF"/>
                </a:solidFill>
                <a:latin typeface="Segoe UI"/>
              </a:rPr>
              <a:t>●  </a:t>
            </a:r>
            <a:r>
              <a:rPr sz="1300">
                <a:solidFill>
                  <a:srgbClr val="6B7B93"/>
                </a:solidFill>
                <a:latin typeface="Segoe UI"/>
              </a:rPr>
              <a:t>Climate Central: 2025 in Review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9BFF"/>
                </a:solidFill>
                <a:latin typeface="Segoe UI"/>
              </a:rPr>
              <a:t>●  </a:t>
            </a:r>
            <a:r>
              <a:rPr sz="1300">
                <a:solidFill>
                  <a:srgbClr val="6B7B93"/>
                </a:solidFill>
                <a:latin typeface="Segoe UI"/>
              </a:rPr>
              <a:t>Climate Adaptation Center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9BFF"/>
                </a:solidFill>
                <a:latin typeface="Segoe UI"/>
              </a:rPr>
              <a:t>●  </a:t>
            </a:r>
            <a:r>
              <a:rPr sz="1300">
                <a:solidFill>
                  <a:srgbClr val="6B7B93"/>
                </a:solidFill>
                <a:latin typeface="Segoe UI"/>
              </a:rPr>
              <a:t>Al Jazeera: Floods of 2025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9BFF"/>
                </a:solidFill>
                <a:latin typeface="Segoe UI"/>
              </a:rPr>
              <a:t>●  </a:t>
            </a:r>
            <a:r>
              <a:rPr sz="1300">
                <a:solidFill>
                  <a:srgbClr val="6B7B93"/>
                </a:solidFill>
                <a:latin typeface="Segoe UI"/>
              </a:rPr>
              <a:t>Drought.gov  |  NOAA / NWS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Atlas — AI Employee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B93"/>
                </a:solidFill>
                <a:latin typeface="Segoe UI"/>
              </a:defRPr>
            </a:pPr>
            <a:r>
              <a:t>Midhat's Group  | 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